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85216"/>
            <a:ext cx="5852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UTKRISHTA 2026  /  AI·ML HACKATHON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1152144"/>
            <a:ext cx="77724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58368" y="2029968"/>
            <a:ext cx="5577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every experiment count.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55321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budget-aware, auditable experiment controller for customer churn prediction.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3785616"/>
            <a:ext cx="4251960" cy="685800"/>
          </a:xfrm>
          <a:prstGeom prst="roundRect">
            <a:avLst>
              <a:gd name="adj" fmla="val 10667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968496"/>
            <a:ext cx="2103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 AUTONOMIS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3986784"/>
            <a:ext cx="50292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1  ·  BUDGET-CONSTRAINED CHURN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" y="4690872"/>
            <a:ext cx="78638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successful CPU fits · all 15 shared attempts used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37960" y="1024128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22008" y="1024128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06056" y="1024128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90104" y="1024128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74152" y="1024128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1417320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22008" y="1417320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6056" y="1417320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0104" y="1417320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74152" y="1417320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1810512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22008" y="1810512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06056" y="1810512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0104" y="1810512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74152" y="1810512"/>
            <a:ext cx="210312" cy="210312"/>
          </a:xfrm>
          <a:prstGeom prst="ellipse">
            <a:avLst/>
          </a:prstGeom>
          <a:solidFill>
            <a:srgbClr val="FFC300"/>
          </a:solidFill>
          <a:ln w="15240">
            <a:solidFill>
              <a:srgbClr val="FFC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2395728"/>
            <a:ext cx="2011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15</a:t>
            </a:r>
            <a:endParaRPr lang="en-US" sz="3100" dirty="0"/>
          </a:p>
        </p:txBody>
      </p:sp>
      <p:sp>
        <p:nvSpPr>
          <p:cNvPr id="27" name="Text 25"/>
          <p:cNvSpPr/>
          <p:nvPr/>
        </p:nvSpPr>
        <p:spPr>
          <a:xfrm>
            <a:off x="6547104" y="2944368"/>
            <a:ext cx="19659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allocation complete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92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 is better experiments, not more experiments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8138160" cy="0"/>
          </a:xfrm>
          <a:prstGeom prst="line">
            <a:avLst/>
          </a:prstGeom>
          <a:noFill/>
          <a:ln w="15240">
            <a:solidFill>
              <a:srgbClr val="00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0600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AUTONOMIS  ·  UTKRISHTA 2026  ·  CHALLENGE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485632" y="4663440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85632" y="46725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46177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teams need a useful ranking of churn risk to prioritize outreach. The challenge is finding a reliable model when every fit consumes scarce budget.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532120" y="1417320"/>
            <a:ext cx="3017520" cy="758952"/>
          </a:xfrm>
          <a:prstGeom prst="roundRect">
            <a:avLst>
              <a:gd name="adj" fmla="val 9639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33288" y="1618488"/>
            <a:ext cx="146304" cy="146304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527048"/>
            <a:ext cx="2286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FITS MAX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9320" y="1746504"/>
            <a:ext cx="233172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fit-and-validation cycle counts. Failed or interrupted reservations still use a slot.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32120" y="2377440"/>
            <a:ext cx="3017520" cy="758952"/>
          </a:xfrm>
          <a:prstGeom prst="roundRect">
            <a:avLst>
              <a:gd name="adj" fmla="val 9639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33288" y="2578608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487168"/>
            <a:ext cx="2286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IMBALANCED TARGET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2706624"/>
            <a:ext cx="233172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 is primary; Average Precision adds a precision–recall view.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32120" y="3337560"/>
            <a:ext cx="3017520" cy="758952"/>
          </a:xfrm>
          <a:prstGeom prst="roundRect">
            <a:avLst>
              <a:gd name="adj" fmla="val 9639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33288" y="3538728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3447288"/>
            <a:ext cx="2286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EVALUATION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3666744"/>
            <a:ext cx="233172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Organizer-held labels and the official output schema must stay separate from local selection.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2816352"/>
            <a:ext cx="32004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RESPONSE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3136392"/>
            <a:ext cx="42976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the experiment log as a first-class product: proposals have a rationale, reservations are durable, and the Audit is protected from tuning.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4096512"/>
            <a:ext cx="7891272" cy="393192"/>
          </a:xfrm>
          <a:prstGeom prst="roundRect">
            <a:avLst>
              <a:gd name="adj" fmla="val 18605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178808"/>
            <a:ext cx="74980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Judging target: predictive quality × disciplined use of the experiment budget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DATA &amp; PREPROCESSING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92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reference data, explicit provenance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8138160" cy="0"/>
          </a:xfrm>
          <a:prstGeom prst="line">
            <a:avLst/>
          </a:prstGeom>
          <a:noFill/>
          <a:ln w="15240">
            <a:solidFill>
              <a:srgbClr val="00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0600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AUTONOMIS  ·  UTKRISHTA 2026  ·  CHALLENGE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485632" y="4663440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85632" y="46725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472184"/>
            <a:ext cx="162763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7,043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58368" y="1929384"/>
            <a:ext cx="1691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rows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88336" y="141732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6352" y="1472184"/>
            <a:ext cx="162763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1,869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779776" y="1929384"/>
            <a:ext cx="1691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churn labels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9744" y="141732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472184"/>
            <a:ext cx="162763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901184" y="1929384"/>
            <a:ext cx="1691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predictor fields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31152" y="141732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1472184"/>
            <a:ext cx="162763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022592" y="1929384"/>
            <a:ext cx="1691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columns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1792" y="2542032"/>
            <a:ext cx="3840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spc="11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PROCESSING 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" y="2880360"/>
            <a:ext cx="1828800" cy="905256"/>
          </a:xfrm>
          <a:prstGeom prst="roundRect">
            <a:avLst>
              <a:gd name="adj" fmla="val 8081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999232"/>
            <a:ext cx="411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2999232"/>
            <a:ext cx="11155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Fingerprint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" y="3364992"/>
            <a:ext cx="15727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source bytes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50592" y="3191256"/>
            <a:ext cx="20116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2697480" y="2880360"/>
            <a:ext cx="1828800" cy="905256"/>
          </a:xfrm>
          <a:prstGeom prst="roundRect">
            <a:avLst>
              <a:gd name="adj" fmla="val 8081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25496" y="2999232"/>
            <a:ext cx="411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64408" y="2999232"/>
            <a:ext cx="11155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364992"/>
            <a:ext cx="15727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+ IDs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44568" y="3191256"/>
            <a:ext cx="20116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4791456" y="2880360"/>
            <a:ext cx="1828800" cy="905256"/>
          </a:xfrm>
          <a:prstGeom prst="roundRect">
            <a:avLst>
              <a:gd name="adj" fmla="val 8081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999232"/>
            <a:ext cx="411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58384" y="2999232"/>
            <a:ext cx="11155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28616" y="3364992"/>
            <a:ext cx="15727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Search / Audit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38544" y="3191256"/>
            <a:ext cx="20116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6885432" y="2880360"/>
            <a:ext cx="1828800" cy="905256"/>
          </a:xfrm>
          <a:prstGeom prst="roundRect">
            <a:avLst>
              <a:gd name="adj" fmla="val 8081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13448" y="2999232"/>
            <a:ext cx="411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52360" y="2999232"/>
            <a:ext cx="11155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22592" y="3364992"/>
            <a:ext cx="15727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preprocessing on Train only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3840480"/>
            <a:ext cx="77266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finding: 11 blank TotalCharges values · no duplicate customer IDs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621792" y="4041648"/>
            <a:ext cx="7918704" cy="448056"/>
          </a:xfrm>
          <a:prstGeom prst="roundRect">
            <a:avLst>
              <a:gd name="adj" fmla="val 16327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" y="4178808"/>
            <a:ext cx="764438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 16320c9c1ec7…448e3055e91   ·   public IBM reference only; organizer equivalence is unverified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SYSTEM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92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end-to-end pipeline with budget and audit gates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8138160" cy="0"/>
          </a:xfrm>
          <a:prstGeom prst="line">
            <a:avLst/>
          </a:prstGeom>
          <a:noFill/>
          <a:ln w="15240">
            <a:solidFill>
              <a:srgbClr val="00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0600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AUTONOMIS  ·  UTKRISHTA 2026  ·  CHALLENGE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485632" y="4663440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85632" y="46725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591056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709928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" y="1975104"/>
            <a:ext cx="1965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+ hash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83864" y="1591056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1709928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21024" y="1975104"/>
            <a:ext cx="1965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1591056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1709928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9944" y="1975104"/>
            <a:ext cx="1965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recipe + reason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2734056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003566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2852928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" y="3118104"/>
            <a:ext cx="1965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ledger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83864" y="2734056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21024" y="2852928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21024" y="3118104"/>
            <a:ext cx="1965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/ optional GPU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72784" y="2734056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2852928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9944" y="3118104"/>
            <a:ext cx="1965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+ bundle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44368" y="1947672"/>
            <a:ext cx="365760" cy="0"/>
          </a:xfrm>
          <a:prstGeom prst="line">
            <a:avLst/>
          </a:prstGeom>
          <a:noFill/>
          <a:ln w="17780">
            <a:solidFill>
              <a:srgbClr val="FFC30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733288" y="1947672"/>
            <a:ext cx="365760" cy="0"/>
          </a:xfrm>
          <a:prstGeom prst="line">
            <a:avLst/>
          </a:prstGeom>
          <a:noFill/>
          <a:ln w="17780">
            <a:solidFill>
              <a:srgbClr val="FFC30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23760" y="2377440"/>
            <a:ext cx="0" cy="329184"/>
          </a:xfrm>
          <a:prstGeom prst="line">
            <a:avLst/>
          </a:prstGeom>
          <a:noFill/>
          <a:ln w="17780">
            <a:solidFill>
              <a:srgbClr val="FFC30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733288" y="3090672"/>
            <a:ext cx="365760" cy="0"/>
          </a:xfrm>
          <a:prstGeom prst="line">
            <a:avLst/>
          </a:prstGeom>
          <a:noFill/>
          <a:ln w="17780">
            <a:solidFill>
              <a:srgbClr val="FFC30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944368" y="3090672"/>
            <a:ext cx="365760" cy="0"/>
          </a:xfrm>
          <a:prstGeom prst="line">
            <a:avLst/>
          </a:prstGeom>
          <a:noFill/>
          <a:ln w="17780">
            <a:solidFill>
              <a:srgbClr val="FFC300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94944" y="4041648"/>
            <a:ext cx="7863840" cy="438912"/>
          </a:xfrm>
          <a:prstGeom prst="roundRect">
            <a:avLst>
              <a:gd name="adj" fmla="val 16667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" y="4160520"/>
            <a:ext cx="146304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GUARANTEES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77440" y="4142232"/>
            <a:ext cx="5897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Atomic reservations  ·  one worker at a time  ·  append-only evidence  ·  round-scoped Audit lock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CORE ALGORITHM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92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finite feedback planner keeps each run interpretable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8138160" cy="0"/>
          </a:xfrm>
          <a:prstGeom prst="line">
            <a:avLst/>
          </a:prstGeom>
          <a:noFill/>
          <a:ln w="15240">
            <a:solidFill>
              <a:srgbClr val="00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0600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AUTONOMIS  ·  UTKRISHTA 2026  ·  CHALLENGE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485632" y="4663440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85632" y="46725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481328"/>
            <a:ext cx="182880" cy="18288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664208"/>
            <a:ext cx="0" cy="429768"/>
          </a:xfrm>
          <a:prstGeom prst="line">
            <a:avLst/>
          </a:prstGeom>
          <a:noFill/>
          <a:ln w="19050">
            <a:solidFill>
              <a:srgbClr val="003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389888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371600"/>
            <a:ext cx="2788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saved metrics, status, and prior proposal.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" y="2203704"/>
            <a:ext cx="182880" cy="18288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86584"/>
            <a:ext cx="0" cy="429768"/>
          </a:xfrm>
          <a:prstGeom prst="line">
            <a:avLst/>
          </a:prstGeom>
          <a:noFill/>
          <a:ln w="19050">
            <a:solidFill>
              <a:srgbClr val="0035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2112264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093976"/>
            <a:ext cx="2788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a bounded recipe choice; explain why.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2926080"/>
            <a:ext cx="182880" cy="18288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108960"/>
            <a:ext cx="0" cy="429768"/>
          </a:xfrm>
          <a:prstGeom prst="line">
            <a:avLst/>
          </a:prstGeom>
          <a:noFill/>
          <a:ln w="19050">
            <a:solidFill>
              <a:srgbClr val="0035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2834640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2816352"/>
            <a:ext cx="2788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Atomically claim one shared attempt token.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" y="3648456"/>
            <a:ext cx="182880" cy="18288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3557016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3538728"/>
            <a:ext cx="2788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outcome; use it to guide the next proposal.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32120" y="1408176"/>
            <a:ext cx="2944368" cy="2395728"/>
          </a:xfrm>
          <a:prstGeom prst="roundRect">
            <a:avLst>
              <a:gd name="adj" fmla="val 3053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42432" y="1627632"/>
            <a:ext cx="24871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MODEL OPTIONS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70448" y="2066544"/>
            <a:ext cx="73152" cy="19202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53328" y="2029968"/>
            <a:ext cx="20574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70448" y="2505456"/>
            <a:ext cx="73152" cy="192024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2468880"/>
            <a:ext cx="20574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CatBoost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70448" y="2944368"/>
            <a:ext cx="73152" cy="192024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3328" y="2907792"/>
            <a:ext cx="20574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42432" y="3429000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FITS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42432" y="3611880"/>
            <a:ext cx="2468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15 Logistic Regression · CPU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" y="4224528"/>
            <a:ext cx="7726680" cy="310896"/>
          </a:xfrm>
          <a:prstGeom prst="roundRect">
            <a:avLst>
              <a:gd name="adj" fmla="val 23529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306824"/>
            <a:ext cx="74066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ablation in V1: log-tenure · active add-on count · historical monthly charge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EXPERIMENT HISTORY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92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15-slot ledger: every attempt completed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8138160" cy="0"/>
          </a:xfrm>
          <a:prstGeom prst="line">
            <a:avLst/>
          </a:prstGeom>
          <a:noFill/>
          <a:ln w="15240">
            <a:solidFill>
              <a:srgbClr val="00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0600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AUTONOMIS  ·  UTKRISHTA 2026  ·  CHALLENGE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485632" y="4663440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85632" y="46725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353312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25880" y="1353312"/>
            <a:ext cx="1417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/ STATUS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29000" y="1353312"/>
            <a:ext cx="960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65192" y="1353312"/>
            <a:ext cx="43891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0" y="1353312"/>
            <a:ext cx="1463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/ STATUS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25512" y="1353312"/>
            <a:ext cx="960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" y="1581912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673352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0160" y="1655064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· DONE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337560" y="1645920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0.863893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640080" y="1938528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029968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2011680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· DONE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3337560" y="2002536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0.864002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640080" y="2295144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386584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80160" y="2368296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· DONE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337560" y="2359152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0.868706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640080" y="2651760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2743200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80160" y="2724912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· DONE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3337560" y="2715768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0.868936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640080" y="3008376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099816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80160" y="3081528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· DONE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3337560" y="3072384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0.869660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640080" y="3364992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3456432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80160" y="3438144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PROBE · DONE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3337560" y="3429000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0.845710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640080" y="3721608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3813048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280160" y="3794760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PROBE · DONE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337560" y="3785616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0.845896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640080" y="4078224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4169664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280160" y="4151376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· DONE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3337560" y="4142232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0.851950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4828032" y="1581912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65192" y="1673352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68112" y="1655064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· DONE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7525512" y="1645920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4828032" y="1938528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65192" y="2029968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68112" y="2011680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· DONE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7525512" y="2002536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0.851599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4828032" y="2295144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65192" y="2386584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68112" y="2368296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· DONE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7525512" y="2359152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0.851860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4828032" y="2651760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65192" y="2743200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68112" y="2724912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· DONE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7525512" y="2715768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0.858804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4828032" y="3008376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65192" y="3099816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68112" y="3081528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· DONE</a:t>
            </a:r>
            <a:endParaRPr lang="en-US" sz="720" dirty="0"/>
          </a:p>
        </p:txBody>
      </p:sp>
      <p:sp>
        <p:nvSpPr>
          <p:cNvPr id="65" name="Text 63"/>
          <p:cNvSpPr/>
          <p:nvPr/>
        </p:nvSpPr>
        <p:spPr>
          <a:xfrm>
            <a:off x="7525512" y="3072384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0.859300</a:t>
            </a:r>
            <a:endParaRPr lang="en-US" sz="840" dirty="0"/>
          </a:p>
        </p:txBody>
      </p:sp>
      <p:sp>
        <p:nvSpPr>
          <p:cNvPr id="66" name="Shape 64"/>
          <p:cNvSpPr/>
          <p:nvPr/>
        </p:nvSpPr>
        <p:spPr>
          <a:xfrm>
            <a:off x="4828032" y="3364992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65192" y="3456432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68112" y="3438144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· DONE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7525512" y="3429000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0.853652</a:t>
            </a:r>
            <a:endParaRPr lang="en-US" sz="840" dirty="0"/>
          </a:p>
        </p:txBody>
      </p:sp>
      <p:sp>
        <p:nvSpPr>
          <p:cNvPr id="70" name="Shape 68"/>
          <p:cNvSpPr/>
          <p:nvPr/>
        </p:nvSpPr>
        <p:spPr>
          <a:xfrm>
            <a:off x="4828032" y="3721608"/>
            <a:ext cx="3822192" cy="283464"/>
          </a:xfrm>
          <a:prstGeom prst="roundRect">
            <a:avLst>
              <a:gd name="adj" fmla="val 2580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65192" y="3813048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468112" y="3794760"/>
            <a:ext cx="1920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· DONE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7525512" y="3785616"/>
            <a:ext cx="9601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658368" y="4544568"/>
            <a:ext cx="7882128" cy="210312"/>
          </a:xfrm>
          <a:prstGeom prst="roundRect">
            <a:avLst>
              <a:gd name="adj" fmla="val 34783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6384" y="4581144"/>
            <a:ext cx="762609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15 shared slots have saved fits across two rounds. Audit scores are proxy metrics; final fits have no holdout score.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EVALUATION METHOD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92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evidence is separated from Audit evidence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8138160" cy="0"/>
          </a:xfrm>
          <a:prstGeom prst="line">
            <a:avLst/>
          </a:prstGeom>
          <a:noFill/>
          <a:ln w="15240">
            <a:solidFill>
              <a:srgbClr val="00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0600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AUTONOMIS  ·  UTKRISHTA 2026  ·  CHALLENGE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485632" y="4663440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85632" y="46725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600200"/>
            <a:ext cx="4334256" cy="502920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755648"/>
            <a:ext cx="426110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 60%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84064" y="1600200"/>
            <a:ext cx="1444752" cy="50292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755648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 20%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28816" y="1600200"/>
            <a:ext cx="1444752" cy="50292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755648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 20%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" y="2441448"/>
            <a:ext cx="1828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2834640"/>
            <a:ext cx="109728" cy="109728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2788920"/>
            <a:ext cx="7132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Train-only preprocessing protects validation partitions from leakage.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273552"/>
            <a:ext cx="109728" cy="109728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227832"/>
            <a:ext cx="7132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 measures ranking across thresholds; AP captures precision as recall rises.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666744"/>
            <a:ext cx="7132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Audit proxy is frozen before its held-out evaluation and cannot guide further tuning.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4233672"/>
            <a:ext cx="7406640" cy="329184"/>
          </a:xfrm>
          <a:prstGeom prst="roundRect">
            <a:avLst>
              <a:gd name="adj" fmla="val 22222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325112"/>
            <a:ext cx="704088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candidate P uses all labelled development rows; it has no internal holdout score.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92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local performance — with the right context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8138160" cy="0"/>
          </a:xfrm>
          <a:prstGeom prst="line">
            <a:avLst/>
          </a:prstGeom>
          <a:noFill/>
          <a:ln w="15240">
            <a:solidFill>
              <a:srgbClr val="00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0600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AUTONOMIS  ·  UTKRISHTA 2026  ·  CHALLENGE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485632" y="4663440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85632" y="46725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1399032"/>
            <a:ext cx="32004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 · 0–1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" y="1609344"/>
            <a:ext cx="12984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· round 1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057400" y="1627632"/>
            <a:ext cx="2514600" cy="173736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627632"/>
            <a:ext cx="2186847" cy="173736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609344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0.869660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768096" y="2057400"/>
            <a:ext cx="12984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· round 2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2057400" y="2075688"/>
            <a:ext cx="2514600" cy="173736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2075688"/>
            <a:ext cx="2160796" cy="173736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057400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0.859300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768096" y="2505456"/>
            <a:ext cx="12984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· round 1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2057400" y="2523744"/>
            <a:ext cx="2514600" cy="173736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2523744"/>
            <a:ext cx="2142313" cy="173736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2505456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0.851950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768096" y="2953512"/>
            <a:ext cx="12984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· round 2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2057400" y="2971800"/>
            <a:ext cx="2514600" cy="173736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2971800"/>
            <a:ext cx="2146593" cy="173736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2953512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0.853652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768096" y="3401568"/>
            <a:ext cx="12984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 reference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2057400" y="3419856"/>
            <a:ext cx="2514600" cy="173736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3419856"/>
            <a:ext cx="1257300" cy="173736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3401568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0.500000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768096" y="3922776"/>
            <a:ext cx="47365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only: random-ranking ROC-AUC = 0.50; not a trained baseline.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69280" y="1508760"/>
            <a:ext cx="2816352" cy="2633472"/>
          </a:xfrm>
          <a:prstGeom prst="roundRect">
            <a:avLst>
              <a:gd name="adj" fmla="val 2778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9592" y="1746504"/>
            <a:ext cx="23774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PRECISION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25312" y="2212848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· round 1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7150608" y="2185416"/>
            <a:ext cx="98755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0.695799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925312" y="2679192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· round 2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7150608" y="2651760"/>
            <a:ext cx="98755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0.702953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925312" y="3145536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· round 1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7150608" y="3118104"/>
            <a:ext cx="98755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0.668741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925312" y="3493008"/>
            <a:ext cx="1234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· round 2 AP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7150608" y="3456432"/>
            <a:ext cx="98755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0.672107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916168" y="3785616"/>
            <a:ext cx="235915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splits. Audit metrics apply only to each round’s locked proxy.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658368" y="4416552"/>
            <a:ext cx="7882128" cy="265176"/>
          </a:xfrm>
          <a:prstGeom prst="roundRect">
            <a:avLst>
              <a:gd name="adj" fmla="val 27586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480560"/>
            <a:ext cx="7516368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organizer hidden-test result or Efficiency Factor is available.</a:t>
            </a:r>
            <a:endParaRPr lang="en-US" sz="9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PRODUCT WALKTHROUGH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92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Demo: run control paired with saved evidence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8138160" cy="0"/>
          </a:xfrm>
          <a:prstGeom prst="line">
            <a:avLst/>
          </a:prstGeom>
          <a:noFill/>
          <a:ln w="15240">
            <a:solidFill>
              <a:srgbClr val="00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0600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AUTONOMIS  ·  UTKRISHTA 2026  ·  CHALLENGE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485632" y="4663440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85632" y="46725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1389888"/>
            <a:ext cx="4983480" cy="3182112"/>
          </a:xfrm>
          <a:prstGeom prst="roundRect">
            <a:avLst>
              <a:gd name="adj" fmla="val 2299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581912"/>
            <a:ext cx="44805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CONTROL ROOM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6384" y="1892808"/>
            <a:ext cx="4297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how to train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2359152"/>
            <a:ext cx="2057400" cy="804672"/>
          </a:xfrm>
          <a:prstGeom prst="roundRect">
            <a:avLst>
              <a:gd name="adj" fmla="val 9091"/>
            </a:avLst>
          </a:prstGeom>
          <a:solidFill>
            <a:srgbClr val="000814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72384" y="2359152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000814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514600"/>
            <a:ext cx="17373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688" y="2761488"/>
            <a:ext cx="1737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Search fit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2514600"/>
            <a:ext cx="1874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2761488"/>
            <a:ext cx="18562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phase gates in order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3419856"/>
            <a:ext cx="1691640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15 used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962656" y="3538728"/>
            <a:ext cx="206654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fits this round · 0 remain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" y="3950208"/>
            <a:ext cx="4343400" cy="118872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3950208"/>
            <a:ext cx="4343400" cy="118872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279392"/>
            <a:ext cx="443484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dashboard layout · live values are read from campaign records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5797296" y="1389888"/>
            <a:ext cx="2734056" cy="3182112"/>
          </a:xfrm>
          <a:prstGeom prst="roundRect">
            <a:avLst>
              <a:gd name="adj" fmla="val 267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1600200"/>
            <a:ext cx="235915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PREDICTION SAMPLE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89320" y="1920240"/>
            <a:ext cx="235915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OUTPUT · PROVISIONAL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998464" y="2276856"/>
            <a:ext cx="2331720" cy="292608"/>
          </a:xfrm>
          <a:prstGeom prst="rect">
            <a:avLst/>
          </a:prstGeom>
          <a:solidFill>
            <a:srgbClr val="000814"/>
          </a:solidFill>
          <a:ln w="12700">
            <a:solidFill>
              <a:srgbClr val="00081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230428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Acct 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2304288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0.722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08192" y="2660904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Acct 02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0" y="2660904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98464" y="2990088"/>
            <a:ext cx="2331720" cy="292608"/>
          </a:xfrm>
          <a:prstGeom prst="rect">
            <a:avLst/>
          </a:prstGeom>
          <a:solidFill>
            <a:srgbClr val="000814"/>
          </a:solidFill>
          <a:ln w="12700">
            <a:solidFill>
              <a:srgbClr val="00081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3017520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Acct 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3017520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0.340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08192" y="3374136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Acct 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3374136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98464" y="3703320"/>
            <a:ext cx="2331720" cy="292608"/>
          </a:xfrm>
          <a:prstGeom prst="rect">
            <a:avLst/>
          </a:prstGeom>
          <a:solidFill>
            <a:srgbClr val="000814"/>
          </a:solidFill>
          <a:ln w="12700">
            <a:solidFill>
              <a:srgbClr val="00081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3730752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Acct 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3730752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98464" y="4233672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 of churn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LIMITS &amp; 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92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demo is honest about what remains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8138160" cy="0"/>
          </a:xfrm>
          <a:prstGeom prst="line">
            <a:avLst/>
          </a:prstGeom>
          <a:noFill/>
          <a:ln w="15240">
            <a:solidFill>
              <a:srgbClr val="00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0600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AUTONOMIS  ·  UTKRISHTA 2026  ·  CHALLENGE 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485632" y="4663440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85632" y="46725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435608"/>
            <a:ext cx="2487168" cy="2606040"/>
          </a:xfrm>
          <a:prstGeom prst="roundRect">
            <a:avLst>
              <a:gd name="adj" fmla="val 2941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673352"/>
            <a:ext cx="215798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&amp; RECORDED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4672" y="2194560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39696"/>
            <a:ext cx="192024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15-fit accounting across rounds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804672" y="2752344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697480"/>
            <a:ext cx="192024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Fifteen saved CPU runs with artifact lineage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804672" y="331012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255264"/>
            <a:ext cx="192024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ledger, and reproducible splits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3383280" y="1435608"/>
            <a:ext cx="2487168" cy="2606040"/>
          </a:xfrm>
          <a:prstGeom prst="roundRect">
            <a:avLst>
              <a:gd name="adj" fmla="val 2941"/>
            </a:avLst>
          </a:prstGeom>
          <a:solidFill>
            <a:srgbClr val="001D3D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1673352"/>
            <a:ext cx="215798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TO VERIFY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2194560"/>
            <a:ext cx="91440" cy="9144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139696"/>
            <a:ext cx="192024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Organizer data equivalence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3566160" y="2752344"/>
            <a:ext cx="91440" cy="9144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697480"/>
            <a:ext cx="192024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submission schema and hidden score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3566160" y="3310128"/>
            <a:ext cx="91440" cy="9144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255264"/>
            <a:ext cx="192024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GPU / tree-model round trips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6144768" y="1435608"/>
            <a:ext cx="2487168" cy="2606040"/>
          </a:xfrm>
          <a:prstGeom prst="roundRect">
            <a:avLst>
              <a:gd name="adj" fmla="val 2941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673352"/>
            <a:ext cx="215798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C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27648" y="2194560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2139696"/>
            <a:ext cx="192024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roster and portal dataset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6327648" y="2752344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2697480"/>
            <a:ext cx="192024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export against sample submission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6327648" y="331012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3255264"/>
            <a:ext cx="192024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organizer dataset and submission contract</a:t>
            </a:r>
            <a:endParaRPr lang="en-US" sz="910" dirty="0"/>
          </a:p>
        </p:txBody>
      </p:sp>
      <p:sp>
        <p:nvSpPr>
          <p:cNvPr id="32" name="Text 30"/>
          <p:cNvSpPr/>
          <p:nvPr/>
        </p:nvSpPr>
        <p:spPr>
          <a:xfrm>
            <a:off x="731520" y="4270248"/>
            <a:ext cx="768096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Fifteen local fits complete the allocation — they are not proof of organizer performance.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Autonomis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Autonomis — Make every experiment count</dc:title>
  <dc:subject>Utkrishta 2026 Challenge 1: budget-constrained churn prediction</dc:subject>
  <dc:creator>Autonomis team</dc:creator>
  <cp:lastModifiedBy>Autonomis team</cp:lastModifiedBy>
  <cp:revision>1</cp:revision>
  <dcterms:created xsi:type="dcterms:W3CDTF">2026-10-27T11:03:01Z</dcterms:created>
  <dcterms:modified xsi:type="dcterms:W3CDTF">2026-10-27T11:03:01Z</dcterms:modified>
</cp:coreProperties>
</file>